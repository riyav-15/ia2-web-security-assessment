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Good morning everyone. We are Krishna Rathod, Riya Vikam and Khushi Satam, and this is our Cyber Forensics and Laws project: a Web Application Authentication and Access Control Security Assessment. Using Burp Suite Community Edition and PortSwigger's training labs, we tested three things: how a login page can leak valid usernames, how a missing permission check exposes another user's data, and how session cookies are configured. Everything was done in authorized lab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Every web application depends on three controls. Authentication proves who you are. Authorization decides what you are allowed to access. Session management keeps you logged in across requests using a cookie. Look at the flow: the user logs in, receives a session cookie, requests a protected resource, and the server must check permission on every single request. Our three practicals each attack one point on this path: the login step, the permission check, and the session cookie. Burp Suite sits between the browser and the server, so we could see every request and response, and use Intruder and Repeater for controlled tests. One idea to remember: a 200 OK only means the server answered. It does not mean the request was authorized. Now Riya will take you through our first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Thanks Krishna. Practical one is username enumeration. The lab login page says Invalid username when an account does not exist. We captured the login request in Burp and sent it to Intruder, using the lab's username and password lists. Look at the comparison on screen. Wrong usernames came back with a response length of 3352. When Intruder reached the valid username, atlas, the response changed, to a length of 3354. That tiny difference told us the account exists. We then fixed that username and ran the password list, and one candidate returned a 302 redirect instead of a 200, meaning the login succeeded. We opened the account page and the lab was solved. The impact is real: once attackers know which accounts exist, they can target them with phishing, password guessing or credential stuffing. The defenses are on the right: one generic message, identical responses, rate limiting, monitoring, strong passwords and multi-factor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Practical two is IDOR, insecure direct object reference. After logging in as the lab user wiener, the account page URL contained id equals wiener. We changed it to id equals carlos, and the server returned Carlos's account page, including his API key, with a 200 OK. The server checked that we were logged in, but never checked whether that account belonged to us. That is horizontal privilege escalation: same privilege level, someone else's data. Authentication told the server who we were, but authorization never asked whether we were allowed. The fix is a server-side ownership check on every request, deny by default, and a 403 when the check fails. Hiding or randomizing identifiers is not a substitute. Over to Khushi.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Thanks Riya. Practical three is session management. In Burp's HTTP history we inspected the login response's Set-Cookie header. The session cookie has Secure, so it only travels over HTTPS, and HttpOnly, so JavaScript cannot read it. But SameSite is set to None, which means the browser also sends the cookie on cross-site requests. That widens exposure to cross-site request forgery, so unless cross-site use is required it should be tightened to Lax or Strict. Using Repeater we replayed account requests with the session cookie and saw that this single value is what gates access, which is why protecting it matters so much. We also traced the logout request, which returns a 302 redirect to the home page. Good practice is that logout invalidates the session on the server, expires the cookie, and the application uses idle and absolute timeouts and issues a new session ID after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Here is the summary. Enumeration: different login responses revealed a valid account and led to account access. IDOR: changing one identifier returned another user's data. Session: we assessed the cookie flags and the logout flow, and identified SameSite None as a hardening item. The common thread is that security must be enforced on the server, consistently, on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To finish, our recommendations: consistent login errors with rate limiting and multi-factor authentication; server-side ownership checks with least privilege; secure cookie settings and proper server-side logout. Burp Suite showed us what really happens underneath the browser. Thank you for watching. Our references are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1   |   1</a:t>
            </a:r>
            <a:endParaRPr lang="en-US" sz="1000" dirty="0"/>
          </a:p>
        </p:txBody>
      </p:sp>
      <p:sp>
        <p:nvSpPr>
          <p:cNvPr id="5" name="Text 2"/>
          <p:cNvSpPr txBox="1"/>
          <p:nvPr/>
        </p:nvSpPr>
        <p:spPr>
          <a:xfrm>
            <a:off x="548640" y="822960"/>
            <a:ext cx="7863840" cy="1188720"/>
          </a:xfrm>
          <a:prstGeom prst="rect">
            <a:avLst/>
          </a:prstGeom>
          <a:noFill/>
          <a:ln/>
        </p:spPr>
        <p:txBody>
          <a:bodyPr wrap="square" lIns="0" tIns="0" rIns="0" bIns="0" rtlCol="0" anchor="t"/>
          <a:lstStyle/>
          <a:p>
            <a:pPr indent="0" marL="0">
              <a:buNone/>
            </a:pPr>
            <a:r>
              <a:rPr lang="en-US" sz="3200" b="1" dirty="0">
                <a:solidFill>
                  <a:srgbClr val="E5E7EB"/>
                </a:solidFill>
                <a:latin typeface="Calibri" pitchFamily="34" charset="0"/>
                <a:ea typeface="Calibri" pitchFamily="34" charset="-122"/>
                <a:cs typeface="Calibri" pitchFamily="34" charset="-120"/>
              </a:rPr>
              <a:t>Web Application Authentication and Access Control Security Assessment</a:t>
            </a:r>
            <a:endParaRPr lang="en-US" sz="3200" dirty="0"/>
          </a:p>
        </p:txBody>
      </p:sp>
      <p:sp>
        <p:nvSpPr>
          <p:cNvPr id="6" name="Text 3"/>
          <p:cNvSpPr txBox="1"/>
          <p:nvPr/>
        </p:nvSpPr>
        <p:spPr>
          <a:xfrm>
            <a:off x="548640" y="2103120"/>
            <a:ext cx="7863840" cy="365760"/>
          </a:xfrm>
          <a:prstGeom prst="rect">
            <a:avLst/>
          </a:prstGeom>
          <a:noFill/>
          <a:ln/>
        </p:spPr>
        <p:txBody>
          <a:bodyPr wrap="square" lIns="0" tIns="0" rIns="0" bIns="0" rtlCol="0" anchor="t"/>
          <a:lstStyle/>
          <a:p>
            <a:pPr indent="0" marL="0">
              <a:buNone/>
            </a:pPr>
            <a:r>
              <a:rPr lang="en-US" sz="1400" dirty="0">
                <a:solidFill>
                  <a:srgbClr val="22D3EE"/>
                </a:solidFill>
                <a:latin typeface="Calibri" pitchFamily="34" charset="0"/>
                <a:ea typeface="Calibri" pitchFamily="34" charset="-122"/>
                <a:cs typeface="Calibri" pitchFamily="34" charset="-120"/>
              </a:rPr>
              <a:t>Burp Suite Community Edition  •  PortSwigger Web Security Academy</a:t>
            </a:r>
            <a:endParaRPr lang="en-US" sz="1400" dirty="0"/>
          </a:p>
        </p:txBody>
      </p:sp>
      <p:sp>
        <p:nvSpPr>
          <p:cNvPr id="7" name="Text 4"/>
          <p:cNvSpPr txBox="1"/>
          <p:nvPr/>
        </p:nvSpPr>
        <p:spPr>
          <a:xfrm>
            <a:off x="548640" y="2926080"/>
            <a:ext cx="8046720" cy="365760"/>
          </a:xfrm>
          <a:prstGeom prst="rect">
            <a:avLst/>
          </a:prstGeom>
          <a:noFill/>
          <a:ln/>
        </p:spPr>
        <p:txBody>
          <a:bodyPr wrap="square" lIns="0" tIns="0" rIns="0" bIns="0" rtlCol="0" anchor="t"/>
          <a:lstStyle/>
          <a:p>
            <a:pPr indent="0" marL="0">
              <a:buNone/>
            </a:pPr>
            <a:r>
              <a:rPr lang="en-US" sz="1400" dirty="0">
                <a:solidFill>
                  <a:srgbClr val="E5E7EB"/>
                </a:solidFill>
                <a:latin typeface="Calibri" pitchFamily="34" charset="0"/>
                <a:ea typeface="Calibri" pitchFamily="34" charset="-122"/>
                <a:cs typeface="Calibri" pitchFamily="34" charset="-120"/>
              </a:rPr>
              <a:t>Krishna Rathod (16010125801)  •  Riya Vikam (16010125802)  •  Khushi Satam (16010125829)</a:t>
            </a:r>
            <a:endParaRPr lang="en-US" sz="1400" dirty="0"/>
          </a:p>
        </p:txBody>
      </p:sp>
      <p:sp>
        <p:nvSpPr>
          <p:cNvPr id="8" name="Text 5"/>
          <p:cNvSpPr txBox="1"/>
          <p:nvPr/>
        </p:nvSpPr>
        <p:spPr>
          <a:xfrm>
            <a:off x="548640" y="3474720"/>
            <a:ext cx="8046720" cy="7315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Honors Cyber Forensics &amp; Laws (CFL 216H02C501)</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K. J. Somaiya School of Engineering, Somaiya Vidyavihar University  •  2026–2027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How a Web Login Is Protected — and Where It Breaks</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1   |   2</a:t>
            </a:r>
            <a:endParaRPr lang="en-US" sz="1000" dirty="0"/>
          </a:p>
        </p:txBody>
      </p:sp>
      <p:sp>
        <p:nvSpPr>
          <p:cNvPr id="6" name="Shape 3"/>
          <p:cNvSpPr/>
          <p:nvPr/>
        </p:nvSpPr>
        <p:spPr>
          <a:xfrm>
            <a:off x="411480" y="1005840"/>
            <a:ext cx="1444752" cy="731520"/>
          </a:xfrm>
          <a:prstGeom prst="rect">
            <a:avLst/>
          </a:prstGeom>
          <a:solidFill>
            <a:srgbClr val="152238"/>
          </a:solidFill>
          <a:ln w="12700">
            <a:solidFill>
              <a:srgbClr val="22D3EE"/>
            </a:solidFill>
            <a:prstDash val="solid"/>
          </a:ln>
        </p:spPr>
      </p:sp>
      <p:sp>
        <p:nvSpPr>
          <p:cNvPr id="7" name="Text 4"/>
          <p:cNvSpPr txBox="1"/>
          <p:nvPr/>
        </p:nvSpPr>
        <p:spPr>
          <a:xfrm>
            <a:off x="457200" y="1005840"/>
            <a:ext cx="1353312"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User</a:t>
            </a:r>
            <a:endParaRPr lang="en-US" sz="1200" dirty="0"/>
          </a:p>
        </p:txBody>
      </p:sp>
      <p:sp>
        <p:nvSpPr>
          <p:cNvPr id="8" name="Text 5"/>
          <p:cNvSpPr txBox="1"/>
          <p:nvPr/>
        </p:nvSpPr>
        <p:spPr>
          <a:xfrm>
            <a:off x="1856232" y="100584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2130552" y="1005840"/>
            <a:ext cx="1444752" cy="731520"/>
          </a:xfrm>
          <a:prstGeom prst="rect">
            <a:avLst/>
          </a:prstGeom>
          <a:solidFill>
            <a:srgbClr val="152238"/>
          </a:solidFill>
          <a:ln w="12700">
            <a:solidFill>
              <a:srgbClr val="22D3EE"/>
            </a:solidFill>
            <a:prstDash val="solid"/>
          </a:ln>
        </p:spPr>
      </p:sp>
      <p:sp>
        <p:nvSpPr>
          <p:cNvPr id="10" name="Text 7"/>
          <p:cNvSpPr txBox="1"/>
          <p:nvPr/>
        </p:nvSpPr>
        <p:spPr>
          <a:xfrm>
            <a:off x="2176272" y="1005840"/>
            <a:ext cx="1353312"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Login</a:t>
            </a:r>
            <a:endParaRPr lang="en-US" sz="1200" dirty="0"/>
          </a:p>
        </p:txBody>
      </p:sp>
      <p:sp>
        <p:nvSpPr>
          <p:cNvPr id="11" name="Text 8"/>
          <p:cNvSpPr txBox="1"/>
          <p:nvPr/>
        </p:nvSpPr>
        <p:spPr>
          <a:xfrm>
            <a:off x="3575304" y="100584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3849624" y="1005840"/>
            <a:ext cx="1444752" cy="731520"/>
          </a:xfrm>
          <a:prstGeom prst="rect">
            <a:avLst/>
          </a:prstGeom>
          <a:solidFill>
            <a:srgbClr val="152238"/>
          </a:solidFill>
          <a:ln w="12700">
            <a:solidFill>
              <a:srgbClr val="22D3EE"/>
            </a:solidFill>
            <a:prstDash val="solid"/>
          </a:ln>
        </p:spPr>
      </p:sp>
      <p:sp>
        <p:nvSpPr>
          <p:cNvPr id="13" name="Text 10"/>
          <p:cNvSpPr txBox="1"/>
          <p:nvPr/>
        </p:nvSpPr>
        <p:spPr>
          <a:xfrm>
            <a:off x="3895344" y="1005840"/>
            <a:ext cx="1353312"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Session cookie</a:t>
            </a:r>
            <a:endParaRPr lang="en-US" sz="1200" dirty="0"/>
          </a:p>
        </p:txBody>
      </p:sp>
      <p:sp>
        <p:nvSpPr>
          <p:cNvPr id="14" name="Text 11"/>
          <p:cNvSpPr txBox="1"/>
          <p:nvPr/>
        </p:nvSpPr>
        <p:spPr>
          <a:xfrm>
            <a:off x="5294376" y="100584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5568696" y="1005840"/>
            <a:ext cx="1444752" cy="731520"/>
          </a:xfrm>
          <a:prstGeom prst="rect">
            <a:avLst/>
          </a:prstGeom>
          <a:solidFill>
            <a:srgbClr val="152238"/>
          </a:solidFill>
          <a:ln w="12700">
            <a:solidFill>
              <a:srgbClr val="22D3EE"/>
            </a:solidFill>
            <a:prstDash val="solid"/>
          </a:ln>
        </p:spPr>
      </p:sp>
      <p:sp>
        <p:nvSpPr>
          <p:cNvPr id="16" name="Text 13"/>
          <p:cNvSpPr txBox="1"/>
          <p:nvPr/>
        </p:nvSpPr>
        <p:spPr>
          <a:xfrm>
            <a:off x="5614416" y="1005840"/>
            <a:ext cx="1353312"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Protected resource</a:t>
            </a:r>
            <a:endParaRPr lang="en-US" sz="1200" dirty="0"/>
          </a:p>
        </p:txBody>
      </p:sp>
      <p:sp>
        <p:nvSpPr>
          <p:cNvPr id="17" name="Text 14"/>
          <p:cNvSpPr txBox="1"/>
          <p:nvPr/>
        </p:nvSpPr>
        <p:spPr>
          <a:xfrm>
            <a:off x="7013448" y="100584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18" name="Shape 15"/>
          <p:cNvSpPr/>
          <p:nvPr/>
        </p:nvSpPr>
        <p:spPr>
          <a:xfrm>
            <a:off x="7287768" y="1005840"/>
            <a:ext cx="1444752" cy="731520"/>
          </a:xfrm>
          <a:prstGeom prst="rect">
            <a:avLst/>
          </a:prstGeom>
          <a:solidFill>
            <a:srgbClr val="152238"/>
          </a:solidFill>
          <a:ln w="12700">
            <a:solidFill>
              <a:srgbClr val="22D3EE"/>
            </a:solidFill>
            <a:prstDash val="solid"/>
          </a:ln>
        </p:spPr>
      </p:sp>
      <p:sp>
        <p:nvSpPr>
          <p:cNvPr id="19" name="Text 16"/>
          <p:cNvSpPr txBox="1"/>
          <p:nvPr/>
        </p:nvSpPr>
        <p:spPr>
          <a:xfrm>
            <a:off x="7333488" y="1005840"/>
            <a:ext cx="1353312"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Server permission check</a:t>
            </a:r>
            <a:endParaRPr lang="en-US" sz="1200" dirty="0"/>
          </a:p>
        </p:txBody>
      </p:sp>
      <p:sp>
        <p:nvSpPr>
          <p:cNvPr id="20" name="Shape 17"/>
          <p:cNvSpPr/>
          <p:nvPr/>
        </p:nvSpPr>
        <p:spPr>
          <a:xfrm>
            <a:off x="411480" y="2103120"/>
            <a:ext cx="2651760" cy="1371600"/>
          </a:xfrm>
          <a:prstGeom prst="rect">
            <a:avLst/>
          </a:prstGeom>
          <a:solidFill>
            <a:srgbClr val="152238"/>
          </a:solidFill>
          <a:ln w="12700">
            <a:solidFill>
              <a:srgbClr val="F97316"/>
            </a:solidFill>
            <a:prstDash val="solid"/>
          </a:ln>
        </p:spPr>
      </p:sp>
      <p:sp>
        <p:nvSpPr>
          <p:cNvPr id="21" name="Text 18"/>
          <p:cNvSpPr txBox="1"/>
          <p:nvPr/>
        </p:nvSpPr>
        <p:spPr>
          <a:xfrm>
            <a:off x="548640" y="2194560"/>
            <a:ext cx="2377440" cy="27432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Practical 1</a:t>
            </a:r>
            <a:endParaRPr lang="en-US" sz="1400" dirty="0"/>
          </a:p>
        </p:txBody>
      </p:sp>
      <p:sp>
        <p:nvSpPr>
          <p:cNvPr id="22" name="Text 19"/>
          <p:cNvSpPr txBox="1"/>
          <p:nvPr/>
        </p:nvSpPr>
        <p:spPr>
          <a:xfrm>
            <a:off x="548640" y="2514600"/>
            <a:ext cx="2377440" cy="320040"/>
          </a:xfrm>
          <a:prstGeom prst="rect">
            <a:avLst/>
          </a:prstGeom>
          <a:noFill/>
          <a:ln/>
        </p:spPr>
        <p:txBody>
          <a:bodyPr wrap="square" lIns="0" tIns="0" rIns="0" bIns="0" rtlCol="0" anchor="t"/>
          <a:lstStyle/>
          <a:p>
            <a:pPr indent="0" marL="0">
              <a:buNone/>
            </a:pPr>
            <a:r>
              <a:rPr lang="en-US" sz="1600" b="1" dirty="0">
                <a:solidFill>
                  <a:srgbClr val="E5E7EB"/>
                </a:solidFill>
                <a:latin typeface="Calibri" pitchFamily="34" charset="0"/>
                <a:ea typeface="Calibri" pitchFamily="34" charset="-122"/>
                <a:cs typeface="Calibri" pitchFamily="34" charset="-120"/>
              </a:rPr>
              <a:t>Login step</a:t>
            </a:r>
            <a:endParaRPr lang="en-US" sz="1600" dirty="0"/>
          </a:p>
        </p:txBody>
      </p:sp>
      <p:sp>
        <p:nvSpPr>
          <p:cNvPr id="23" name="Text 20"/>
          <p:cNvSpPr txBox="1"/>
          <p:nvPr/>
        </p:nvSpPr>
        <p:spPr>
          <a:xfrm>
            <a:off x="548640" y="2926080"/>
            <a:ext cx="237744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Responses reveal valid usernames</a:t>
            </a:r>
            <a:endParaRPr lang="en-US" sz="1200" dirty="0"/>
          </a:p>
        </p:txBody>
      </p:sp>
      <p:sp>
        <p:nvSpPr>
          <p:cNvPr id="24" name="Shape 21"/>
          <p:cNvSpPr/>
          <p:nvPr/>
        </p:nvSpPr>
        <p:spPr>
          <a:xfrm>
            <a:off x="3246120" y="2103120"/>
            <a:ext cx="2651760" cy="1371600"/>
          </a:xfrm>
          <a:prstGeom prst="rect">
            <a:avLst/>
          </a:prstGeom>
          <a:solidFill>
            <a:srgbClr val="152238"/>
          </a:solidFill>
          <a:ln w="12700">
            <a:solidFill>
              <a:srgbClr val="F97316"/>
            </a:solidFill>
            <a:prstDash val="solid"/>
          </a:ln>
        </p:spPr>
      </p:sp>
      <p:sp>
        <p:nvSpPr>
          <p:cNvPr id="25" name="Text 22"/>
          <p:cNvSpPr txBox="1"/>
          <p:nvPr/>
        </p:nvSpPr>
        <p:spPr>
          <a:xfrm>
            <a:off x="3383280" y="2194560"/>
            <a:ext cx="2377440" cy="27432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Practical 2</a:t>
            </a:r>
            <a:endParaRPr lang="en-US" sz="1400" dirty="0"/>
          </a:p>
        </p:txBody>
      </p:sp>
      <p:sp>
        <p:nvSpPr>
          <p:cNvPr id="26" name="Text 23"/>
          <p:cNvSpPr txBox="1"/>
          <p:nvPr/>
        </p:nvSpPr>
        <p:spPr>
          <a:xfrm>
            <a:off x="3383280" y="2514600"/>
            <a:ext cx="2377440" cy="320040"/>
          </a:xfrm>
          <a:prstGeom prst="rect">
            <a:avLst/>
          </a:prstGeom>
          <a:noFill/>
          <a:ln/>
        </p:spPr>
        <p:txBody>
          <a:bodyPr wrap="square" lIns="0" tIns="0" rIns="0" bIns="0" rtlCol="0" anchor="t"/>
          <a:lstStyle/>
          <a:p>
            <a:pPr indent="0" marL="0">
              <a:buNone/>
            </a:pPr>
            <a:r>
              <a:rPr lang="en-US" sz="1600" b="1" dirty="0">
                <a:solidFill>
                  <a:srgbClr val="E5E7EB"/>
                </a:solidFill>
                <a:latin typeface="Calibri" pitchFamily="34" charset="0"/>
                <a:ea typeface="Calibri" pitchFamily="34" charset="-122"/>
                <a:cs typeface="Calibri" pitchFamily="34" charset="-120"/>
              </a:rPr>
              <a:t>Permission check</a:t>
            </a:r>
            <a:endParaRPr lang="en-US" sz="1600" dirty="0"/>
          </a:p>
        </p:txBody>
      </p:sp>
      <p:sp>
        <p:nvSpPr>
          <p:cNvPr id="27" name="Text 24"/>
          <p:cNvSpPr txBox="1"/>
          <p:nvPr/>
        </p:nvSpPr>
        <p:spPr>
          <a:xfrm>
            <a:off x="3383280" y="2926080"/>
            <a:ext cx="237744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Missing ownership check exposes data</a:t>
            </a:r>
            <a:endParaRPr lang="en-US" sz="1200" dirty="0"/>
          </a:p>
        </p:txBody>
      </p:sp>
      <p:sp>
        <p:nvSpPr>
          <p:cNvPr id="28" name="Shape 25"/>
          <p:cNvSpPr/>
          <p:nvPr/>
        </p:nvSpPr>
        <p:spPr>
          <a:xfrm>
            <a:off x="6080760" y="2103120"/>
            <a:ext cx="2651760" cy="1371600"/>
          </a:xfrm>
          <a:prstGeom prst="rect">
            <a:avLst/>
          </a:prstGeom>
          <a:solidFill>
            <a:srgbClr val="152238"/>
          </a:solidFill>
          <a:ln w="12700">
            <a:solidFill>
              <a:srgbClr val="F97316"/>
            </a:solidFill>
            <a:prstDash val="solid"/>
          </a:ln>
        </p:spPr>
      </p:sp>
      <p:sp>
        <p:nvSpPr>
          <p:cNvPr id="29" name="Text 26"/>
          <p:cNvSpPr txBox="1"/>
          <p:nvPr/>
        </p:nvSpPr>
        <p:spPr>
          <a:xfrm>
            <a:off x="6217920" y="2194560"/>
            <a:ext cx="2377440" cy="27432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Practical 3</a:t>
            </a:r>
            <a:endParaRPr lang="en-US" sz="1400" dirty="0"/>
          </a:p>
        </p:txBody>
      </p:sp>
      <p:sp>
        <p:nvSpPr>
          <p:cNvPr id="30" name="Text 27"/>
          <p:cNvSpPr txBox="1"/>
          <p:nvPr/>
        </p:nvSpPr>
        <p:spPr>
          <a:xfrm>
            <a:off x="6217920" y="2514600"/>
            <a:ext cx="2377440" cy="320040"/>
          </a:xfrm>
          <a:prstGeom prst="rect">
            <a:avLst/>
          </a:prstGeom>
          <a:noFill/>
          <a:ln/>
        </p:spPr>
        <p:txBody>
          <a:bodyPr wrap="square" lIns="0" tIns="0" rIns="0" bIns="0" rtlCol="0" anchor="t"/>
          <a:lstStyle/>
          <a:p>
            <a:pPr indent="0" marL="0">
              <a:buNone/>
            </a:pPr>
            <a:r>
              <a:rPr lang="en-US" sz="1600" b="1" dirty="0">
                <a:solidFill>
                  <a:srgbClr val="E5E7EB"/>
                </a:solidFill>
                <a:latin typeface="Calibri" pitchFamily="34" charset="0"/>
                <a:ea typeface="Calibri" pitchFamily="34" charset="-122"/>
                <a:cs typeface="Calibri" pitchFamily="34" charset="-120"/>
              </a:rPr>
              <a:t>Session cookie</a:t>
            </a:r>
            <a:endParaRPr lang="en-US" sz="1600" dirty="0"/>
          </a:p>
        </p:txBody>
      </p:sp>
      <p:sp>
        <p:nvSpPr>
          <p:cNvPr id="31" name="Text 28"/>
          <p:cNvSpPr txBox="1"/>
          <p:nvPr/>
        </p:nvSpPr>
        <p:spPr>
          <a:xfrm>
            <a:off x="6217920" y="2926080"/>
            <a:ext cx="237744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Cookie flags and logout flow</a:t>
            </a:r>
            <a:endParaRPr lang="en-US" sz="1200" dirty="0"/>
          </a:p>
        </p:txBody>
      </p:sp>
      <p:sp>
        <p:nvSpPr>
          <p:cNvPr id="32" name="Text 29"/>
          <p:cNvSpPr txBox="1"/>
          <p:nvPr/>
        </p:nvSpPr>
        <p:spPr>
          <a:xfrm>
            <a:off x="411480" y="3840480"/>
            <a:ext cx="8321040" cy="365760"/>
          </a:xfrm>
          <a:prstGeom prst="rect">
            <a:avLst/>
          </a:prstGeom>
          <a:noFill/>
          <a:ln/>
        </p:spPr>
        <p:txBody>
          <a:bodyPr wrap="square" lIns="0" tIns="0" rIns="0" bIns="0" rtlCol="0" anchor="t"/>
          <a:lstStyle/>
          <a:p>
            <a:pPr indent="0" marL="0">
              <a:buNone/>
            </a:pPr>
            <a:r>
              <a:rPr lang="en-US" sz="1400" b="1" dirty="0">
                <a:solidFill>
                  <a:srgbClr val="22D3EE"/>
                </a:solidFill>
                <a:latin typeface="Calibri" pitchFamily="34" charset="0"/>
                <a:ea typeface="Calibri" pitchFamily="34" charset="-122"/>
                <a:cs typeface="Calibri" pitchFamily="34" charset="-120"/>
              </a:rPr>
              <a:t>Burp Proxy → Intruder → Repeater  |  200 OK ≠ authorized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Practical 1 — Username Enumeration</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2   |   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2743200"/>
                <a:gridCol w="914400"/>
                <a:gridCol w="914400"/>
                <a:gridCol w="3749040"/>
              </a:tblGrid>
              <a:tr h="457200">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Login attempt</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Length</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r>
              <a:tr h="4572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Unknown username</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3352</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“Invalid username”</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r h="4572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Valid username, wrong password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F97316"/>
                          </a:solidFill>
                          <a:latin typeface="Calibri" pitchFamily="34" charset="0"/>
                          <a:ea typeface="Calibri" pitchFamily="34" charset="-122"/>
                          <a:cs typeface="Calibri" pitchFamily="34" charset="-120"/>
                        </a:rPr>
                        <a:t>3354</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F97316"/>
                          </a:solidFill>
                          <a:latin typeface="Calibri" pitchFamily="34" charset="0"/>
                          <a:ea typeface="Calibri" pitchFamily="34" charset="-122"/>
                          <a:cs typeface="Calibri" pitchFamily="34" charset="-120"/>
                        </a:rPr>
                        <a:t>Different response → account exists</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r h="4572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Valid username, correct password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302</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187</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Redirect → logged in</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bl>
          </a:graphicData>
        </a:graphic>
      </p:graphicFrame>
      <p:sp>
        <p:nvSpPr>
          <p:cNvPr id="7" name="Shape 3"/>
          <p:cNvSpPr/>
          <p:nvPr/>
        </p:nvSpPr>
        <p:spPr>
          <a:xfrm>
            <a:off x="411480" y="3017520"/>
            <a:ext cx="1874520" cy="640080"/>
          </a:xfrm>
          <a:prstGeom prst="rect">
            <a:avLst/>
          </a:prstGeom>
          <a:solidFill>
            <a:srgbClr val="152238"/>
          </a:solidFill>
          <a:ln w="12700">
            <a:solidFill>
              <a:srgbClr val="F97316"/>
            </a:solidFill>
            <a:prstDash val="solid"/>
          </a:ln>
        </p:spPr>
      </p:sp>
      <p:sp>
        <p:nvSpPr>
          <p:cNvPr id="8" name="Text 4"/>
          <p:cNvSpPr txBox="1"/>
          <p:nvPr/>
        </p:nvSpPr>
        <p:spPr>
          <a:xfrm>
            <a:off x="457200" y="3017520"/>
            <a:ext cx="1783080" cy="64008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Compare responses</a:t>
            </a:r>
            <a:endParaRPr lang="en-US" sz="1200" dirty="0"/>
          </a:p>
        </p:txBody>
      </p:sp>
      <p:sp>
        <p:nvSpPr>
          <p:cNvPr id="9" name="Text 5"/>
          <p:cNvSpPr txBox="1"/>
          <p:nvPr/>
        </p:nvSpPr>
        <p:spPr>
          <a:xfrm>
            <a:off x="2286000" y="3017520"/>
            <a:ext cx="274320" cy="64008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10" name="Shape 6"/>
          <p:cNvSpPr/>
          <p:nvPr/>
        </p:nvSpPr>
        <p:spPr>
          <a:xfrm>
            <a:off x="2560320" y="3017520"/>
            <a:ext cx="1874520" cy="640080"/>
          </a:xfrm>
          <a:prstGeom prst="rect">
            <a:avLst/>
          </a:prstGeom>
          <a:solidFill>
            <a:srgbClr val="152238"/>
          </a:solidFill>
          <a:ln w="12700">
            <a:solidFill>
              <a:srgbClr val="F97316"/>
            </a:solidFill>
            <a:prstDash val="solid"/>
          </a:ln>
        </p:spPr>
      </p:sp>
      <p:sp>
        <p:nvSpPr>
          <p:cNvPr id="11" name="Text 7"/>
          <p:cNvSpPr txBox="1"/>
          <p:nvPr/>
        </p:nvSpPr>
        <p:spPr>
          <a:xfrm>
            <a:off x="2606040" y="3017520"/>
            <a:ext cx="1783080" cy="64008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Valid username: atlas</a:t>
            </a:r>
            <a:endParaRPr lang="en-US" sz="1200" dirty="0"/>
          </a:p>
        </p:txBody>
      </p:sp>
      <p:sp>
        <p:nvSpPr>
          <p:cNvPr id="12" name="Text 8"/>
          <p:cNvSpPr txBox="1"/>
          <p:nvPr/>
        </p:nvSpPr>
        <p:spPr>
          <a:xfrm>
            <a:off x="4434840" y="3017520"/>
            <a:ext cx="274320" cy="64008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13" name="Shape 9"/>
          <p:cNvSpPr/>
          <p:nvPr/>
        </p:nvSpPr>
        <p:spPr>
          <a:xfrm>
            <a:off x="4709160" y="3017520"/>
            <a:ext cx="1874520" cy="640080"/>
          </a:xfrm>
          <a:prstGeom prst="rect">
            <a:avLst/>
          </a:prstGeom>
          <a:solidFill>
            <a:srgbClr val="152238"/>
          </a:solidFill>
          <a:ln w="12700">
            <a:solidFill>
              <a:srgbClr val="F97316"/>
            </a:solidFill>
            <a:prstDash val="solid"/>
          </a:ln>
        </p:spPr>
      </p:sp>
      <p:sp>
        <p:nvSpPr>
          <p:cNvPr id="14" name="Text 10"/>
          <p:cNvSpPr txBox="1"/>
          <p:nvPr/>
        </p:nvSpPr>
        <p:spPr>
          <a:xfrm>
            <a:off x="4754880" y="3017520"/>
            <a:ext cx="1783080" cy="64008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Test passwords</a:t>
            </a:r>
            <a:endParaRPr lang="en-US" sz="1200" dirty="0"/>
          </a:p>
        </p:txBody>
      </p:sp>
      <p:sp>
        <p:nvSpPr>
          <p:cNvPr id="15" name="Text 11"/>
          <p:cNvSpPr txBox="1"/>
          <p:nvPr/>
        </p:nvSpPr>
        <p:spPr>
          <a:xfrm>
            <a:off x="6583680" y="3017520"/>
            <a:ext cx="274320" cy="64008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6858000" y="3017520"/>
            <a:ext cx="1874520" cy="640080"/>
          </a:xfrm>
          <a:prstGeom prst="rect">
            <a:avLst/>
          </a:prstGeom>
          <a:solidFill>
            <a:srgbClr val="152238"/>
          </a:solidFill>
          <a:ln w="12700">
            <a:solidFill>
              <a:srgbClr val="F97316"/>
            </a:solidFill>
            <a:prstDash val="solid"/>
          </a:ln>
        </p:spPr>
      </p:sp>
      <p:sp>
        <p:nvSpPr>
          <p:cNvPr id="17" name="Text 13"/>
          <p:cNvSpPr txBox="1"/>
          <p:nvPr/>
        </p:nvSpPr>
        <p:spPr>
          <a:xfrm>
            <a:off x="6903720" y="3017520"/>
            <a:ext cx="1783080" cy="64008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Account page → solved</a:t>
            </a:r>
            <a:endParaRPr lang="en-US" sz="1200" dirty="0"/>
          </a:p>
        </p:txBody>
      </p:sp>
      <p:sp>
        <p:nvSpPr>
          <p:cNvPr id="18" name="Text 14"/>
          <p:cNvSpPr txBox="1"/>
          <p:nvPr/>
        </p:nvSpPr>
        <p:spPr>
          <a:xfrm>
            <a:off x="411480" y="4023360"/>
            <a:ext cx="8321040" cy="36576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Fix: generic message  •  identical responses  •  rate limiting  •  monitoring  •  MFA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Practical 2 — IDOR / Horizontal Privilege Escalation</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2   |   4</a:t>
            </a:r>
            <a:endParaRPr lang="en-US" sz="1000" dirty="0"/>
          </a:p>
        </p:txBody>
      </p:sp>
      <p:sp>
        <p:nvSpPr>
          <p:cNvPr id="6" name="Shape 3"/>
          <p:cNvSpPr/>
          <p:nvPr/>
        </p:nvSpPr>
        <p:spPr>
          <a:xfrm>
            <a:off x="411480" y="960120"/>
            <a:ext cx="4023360" cy="1188720"/>
          </a:xfrm>
          <a:prstGeom prst="rect">
            <a:avLst/>
          </a:prstGeom>
          <a:solidFill>
            <a:srgbClr val="0A1628"/>
          </a:solidFill>
          <a:ln w="12700">
            <a:solidFill>
              <a:srgbClr val="22D3EE"/>
            </a:solidFill>
            <a:prstDash val="solid"/>
          </a:ln>
        </p:spPr>
      </p:sp>
      <p:sp>
        <p:nvSpPr>
          <p:cNvPr id="7" name="Text 4"/>
          <p:cNvSpPr txBox="1"/>
          <p:nvPr/>
        </p:nvSpPr>
        <p:spPr>
          <a:xfrm>
            <a:off x="548640" y="1051560"/>
            <a:ext cx="3749040" cy="1005840"/>
          </a:xfrm>
          <a:prstGeom prst="rect">
            <a:avLst/>
          </a:prstGeom>
          <a:noFill/>
          <a:ln/>
        </p:spPr>
        <p:txBody>
          <a:bodyPr wrap="square" lIns="0" tIns="0" rIns="0" bIns="0" rtlCol="0" anchor="t"/>
          <a:lstStyle/>
          <a:p>
            <a:pPr indent="0" marL="0">
              <a:buNone/>
            </a:pPr>
            <a:r>
              <a:rPr lang="en-US" sz="1100" dirty="0">
                <a:solidFill>
                  <a:srgbClr val="E5E7EB"/>
                </a:solidFill>
                <a:latin typeface="Courier New" pitchFamily="34" charset="0"/>
                <a:ea typeface="Courier New" pitchFamily="34" charset="-122"/>
                <a:cs typeface="Courier New" pitchFamily="34" charset="-120"/>
              </a:rPr>
              <a:t>GET /my-account?id=wiener</a:t>
            </a: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Cookie: session=…</a:t>
            </a:r>
            <a:endParaRPr lang="en-US" sz="1100" dirty="0"/>
          </a:p>
          <a:p>
            <a:pPr indent="0" marL="0">
              <a:buNone/>
            </a:pP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200 OK → "Your username is: wiener"</a:t>
            </a:r>
            <a:endParaRPr lang="en-US" sz="1100" dirty="0"/>
          </a:p>
        </p:txBody>
      </p:sp>
      <p:sp>
        <p:nvSpPr>
          <p:cNvPr id="8" name="Shape 5"/>
          <p:cNvSpPr/>
          <p:nvPr/>
        </p:nvSpPr>
        <p:spPr>
          <a:xfrm>
            <a:off x="4709160" y="960120"/>
            <a:ext cx="4023360" cy="1188720"/>
          </a:xfrm>
          <a:prstGeom prst="rect">
            <a:avLst/>
          </a:prstGeom>
          <a:solidFill>
            <a:srgbClr val="0A1628"/>
          </a:solidFill>
          <a:ln w="12700">
            <a:solidFill>
              <a:srgbClr val="F97316"/>
            </a:solidFill>
            <a:prstDash val="solid"/>
          </a:ln>
        </p:spPr>
      </p:sp>
      <p:sp>
        <p:nvSpPr>
          <p:cNvPr id="9" name="Text 6"/>
          <p:cNvSpPr txBox="1"/>
          <p:nvPr/>
        </p:nvSpPr>
        <p:spPr>
          <a:xfrm>
            <a:off x="4846320" y="1051560"/>
            <a:ext cx="3749040" cy="1005840"/>
          </a:xfrm>
          <a:prstGeom prst="rect">
            <a:avLst/>
          </a:prstGeom>
          <a:noFill/>
          <a:ln/>
        </p:spPr>
        <p:txBody>
          <a:bodyPr wrap="square" lIns="0" tIns="0" rIns="0" bIns="0" rtlCol="0" anchor="t"/>
          <a:lstStyle/>
          <a:p>
            <a:pPr indent="0" marL="0">
              <a:buNone/>
            </a:pPr>
            <a:r>
              <a:rPr lang="en-US" sz="1100" dirty="0">
                <a:solidFill>
                  <a:srgbClr val="E5E7EB"/>
                </a:solidFill>
                <a:latin typeface="Courier New" pitchFamily="34" charset="0"/>
                <a:ea typeface="Courier New" pitchFamily="34" charset="-122"/>
                <a:cs typeface="Courier New" pitchFamily="34" charset="-120"/>
              </a:rPr>
              <a:t>GET /my-account?id=carlos</a:t>
            </a: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Cookie: session=… (same wiener session)</a:t>
            </a:r>
            <a:endParaRPr lang="en-US" sz="1100" dirty="0"/>
          </a:p>
          <a:p>
            <a:pPr indent="0" marL="0">
              <a:buNone/>
            </a:pP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200 OK → "Your username is: carlos" + API key</a:t>
            </a:r>
            <a:endParaRPr lang="en-US" sz="1100" dirty="0"/>
          </a:p>
        </p:txBody>
      </p:sp>
      <p:sp>
        <p:nvSpPr>
          <p:cNvPr id="10" name="Text 7"/>
          <p:cNvSpPr txBox="1"/>
          <p:nvPr/>
        </p:nvSpPr>
        <p:spPr>
          <a:xfrm>
            <a:off x="411480" y="2331720"/>
            <a:ext cx="3657600" cy="27432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Vulnerable</a:t>
            </a:r>
            <a:endParaRPr lang="en-US" sz="1400" dirty="0"/>
          </a:p>
        </p:txBody>
      </p:sp>
      <p:sp>
        <p:nvSpPr>
          <p:cNvPr id="11" name="Shape 8"/>
          <p:cNvSpPr/>
          <p:nvPr/>
        </p:nvSpPr>
        <p:spPr>
          <a:xfrm>
            <a:off x="411480" y="2651760"/>
            <a:ext cx="1874520" cy="594360"/>
          </a:xfrm>
          <a:prstGeom prst="rect">
            <a:avLst/>
          </a:prstGeom>
          <a:solidFill>
            <a:srgbClr val="152238"/>
          </a:solidFill>
          <a:ln w="12700">
            <a:solidFill>
              <a:srgbClr val="F97316"/>
            </a:solidFill>
            <a:prstDash val="solid"/>
          </a:ln>
        </p:spPr>
      </p:sp>
      <p:sp>
        <p:nvSpPr>
          <p:cNvPr id="12" name="Text 9"/>
          <p:cNvSpPr txBox="1"/>
          <p:nvPr/>
        </p:nvSpPr>
        <p:spPr>
          <a:xfrm>
            <a:off x="457200" y="265176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Logged-in user</a:t>
            </a:r>
            <a:endParaRPr lang="en-US" sz="1200" dirty="0"/>
          </a:p>
        </p:txBody>
      </p:sp>
      <p:sp>
        <p:nvSpPr>
          <p:cNvPr id="13" name="Text 10"/>
          <p:cNvSpPr txBox="1"/>
          <p:nvPr/>
        </p:nvSpPr>
        <p:spPr>
          <a:xfrm>
            <a:off x="2286000" y="2651760"/>
            <a:ext cx="274320" cy="59436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2560320" y="2651760"/>
            <a:ext cx="1874520" cy="594360"/>
          </a:xfrm>
          <a:prstGeom prst="rect">
            <a:avLst/>
          </a:prstGeom>
          <a:solidFill>
            <a:srgbClr val="152238"/>
          </a:solidFill>
          <a:ln w="12700">
            <a:solidFill>
              <a:srgbClr val="F97316"/>
            </a:solidFill>
            <a:prstDash val="solid"/>
          </a:ln>
        </p:spPr>
      </p:sp>
      <p:sp>
        <p:nvSpPr>
          <p:cNvPr id="15" name="Text 12"/>
          <p:cNvSpPr txBox="1"/>
          <p:nvPr/>
        </p:nvSpPr>
        <p:spPr>
          <a:xfrm>
            <a:off x="2606040" y="265176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Changes ID</a:t>
            </a:r>
            <a:endParaRPr lang="en-US" sz="1200" dirty="0"/>
          </a:p>
        </p:txBody>
      </p:sp>
      <p:sp>
        <p:nvSpPr>
          <p:cNvPr id="16" name="Text 13"/>
          <p:cNvSpPr txBox="1"/>
          <p:nvPr/>
        </p:nvSpPr>
        <p:spPr>
          <a:xfrm>
            <a:off x="4434840" y="2651760"/>
            <a:ext cx="274320" cy="59436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17" name="Shape 14"/>
          <p:cNvSpPr/>
          <p:nvPr/>
        </p:nvSpPr>
        <p:spPr>
          <a:xfrm>
            <a:off x="4709160" y="2651760"/>
            <a:ext cx="1874520" cy="594360"/>
          </a:xfrm>
          <a:prstGeom prst="rect">
            <a:avLst/>
          </a:prstGeom>
          <a:solidFill>
            <a:srgbClr val="152238"/>
          </a:solidFill>
          <a:ln w="12700">
            <a:solidFill>
              <a:srgbClr val="F97316"/>
            </a:solidFill>
            <a:prstDash val="solid"/>
          </a:ln>
        </p:spPr>
      </p:sp>
      <p:sp>
        <p:nvSpPr>
          <p:cNvPr id="18" name="Text 15"/>
          <p:cNvSpPr txBox="1"/>
          <p:nvPr/>
        </p:nvSpPr>
        <p:spPr>
          <a:xfrm>
            <a:off x="4754880" y="265176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No ownership check</a:t>
            </a:r>
            <a:endParaRPr lang="en-US" sz="1200" dirty="0"/>
          </a:p>
        </p:txBody>
      </p:sp>
      <p:sp>
        <p:nvSpPr>
          <p:cNvPr id="19" name="Text 16"/>
          <p:cNvSpPr txBox="1"/>
          <p:nvPr/>
        </p:nvSpPr>
        <p:spPr>
          <a:xfrm>
            <a:off x="6583680" y="2651760"/>
            <a:ext cx="274320" cy="594360"/>
          </a:xfrm>
          <a:prstGeom prst="rect">
            <a:avLst/>
          </a:prstGeom>
          <a:noFill/>
          <a:ln/>
        </p:spPr>
        <p:txBody>
          <a:bodyPr wrap="square" lIns="0" tIns="0" rIns="0" bIns="0" rtlCol="0" anchor="ctr"/>
          <a:lstStyle/>
          <a:p>
            <a:pPr algn="ctr" indent="0" marL="0">
              <a:buNone/>
            </a:pPr>
            <a:r>
              <a:rPr lang="en-US" sz="1600" dirty="0">
                <a:solidFill>
                  <a:srgbClr val="F97316"/>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858000" y="2651760"/>
            <a:ext cx="1874520" cy="594360"/>
          </a:xfrm>
          <a:prstGeom prst="rect">
            <a:avLst/>
          </a:prstGeom>
          <a:solidFill>
            <a:srgbClr val="152238"/>
          </a:solidFill>
          <a:ln w="12700">
            <a:solidFill>
              <a:srgbClr val="F97316"/>
            </a:solidFill>
            <a:prstDash val="solid"/>
          </a:ln>
        </p:spPr>
      </p:sp>
      <p:sp>
        <p:nvSpPr>
          <p:cNvPr id="21" name="Text 18"/>
          <p:cNvSpPr txBox="1"/>
          <p:nvPr/>
        </p:nvSpPr>
        <p:spPr>
          <a:xfrm>
            <a:off x="6903720" y="265176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Other user’s data</a:t>
            </a:r>
            <a:endParaRPr lang="en-US" sz="1200" dirty="0"/>
          </a:p>
        </p:txBody>
      </p:sp>
      <p:sp>
        <p:nvSpPr>
          <p:cNvPr id="22" name="Text 19"/>
          <p:cNvSpPr txBox="1"/>
          <p:nvPr/>
        </p:nvSpPr>
        <p:spPr>
          <a:xfrm>
            <a:off x="411480" y="3429000"/>
            <a:ext cx="3657600" cy="27432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Secure</a:t>
            </a:r>
            <a:endParaRPr lang="en-US" sz="1400" dirty="0"/>
          </a:p>
        </p:txBody>
      </p:sp>
      <p:sp>
        <p:nvSpPr>
          <p:cNvPr id="23" name="Shape 20"/>
          <p:cNvSpPr/>
          <p:nvPr/>
        </p:nvSpPr>
        <p:spPr>
          <a:xfrm>
            <a:off x="411480" y="3749040"/>
            <a:ext cx="1874520" cy="594360"/>
          </a:xfrm>
          <a:prstGeom prst="rect">
            <a:avLst/>
          </a:prstGeom>
          <a:solidFill>
            <a:srgbClr val="152238"/>
          </a:solidFill>
          <a:ln w="12700">
            <a:solidFill>
              <a:srgbClr val="34D399"/>
            </a:solidFill>
            <a:prstDash val="solid"/>
          </a:ln>
        </p:spPr>
      </p:sp>
      <p:sp>
        <p:nvSpPr>
          <p:cNvPr id="24" name="Text 21"/>
          <p:cNvSpPr txBox="1"/>
          <p:nvPr/>
        </p:nvSpPr>
        <p:spPr>
          <a:xfrm>
            <a:off x="457200" y="374904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Logged-in user</a:t>
            </a:r>
            <a:endParaRPr lang="en-US" sz="1200" dirty="0"/>
          </a:p>
        </p:txBody>
      </p:sp>
      <p:sp>
        <p:nvSpPr>
          <p:cNvPr id="25" name="Text 22"/>
          <p:cNvSpPr txBox="1"/>
          <p:nvPr/>
        </p:nvSpPr>
        <p:spPr>
          <a:xfrm>
            <a:off x="2286000" y="3749040"/>
            <a:ext cx="274320" cy="594360"/>
          </a:xfrm>
          <a:prstGeom prst="rect">
            <a:avLst/>
          </a:prstGeom>
          <a:noFill/>
          <a:ln/>
        </p:spPr>
        <p:txBody>
          <a:bodyPr wrap="square" lIns="0" tIns="0" rIns="0" bIns="0" rtlCol="0" anchor="ctr"/>
          <a:lstStyle/>
          <a:p>
            <a:pPr algn="ctr" indent="0" marL="0">
              <a:buNone/>
            </a:pPr>
            <a:r>
              <a:rPr lang="en-US" sz="1600" dirty="0">
                <a:solidFill>
                  <a:srgbClr val="34D399"/>
                </a:solidFill>
                <a:latin typeface="Calibri" pitchFamily="34" charset="0"/>
                <a:ea typeface="Calibri" pitchFamily="34" charset="-122"/>
                <a:cs typeface="Calibri" pitchFamily="34" charset="-120"/>
              </a:rPr>
              <a:t>→</a:t>
            </a:r>
            <a:endParaRPr lang="en-US" sz="1600" dirty="0"/>
          </a:p>
        </p:txBody>
      </p:sp>
      <p:sp>
        <p:nvSpPr>
          <p:cNvPr id="26" name="Shape 23"/>
          <p:cNvSpPr/>
          <p:nvPr/>
        </p:nvSpPr>
        <p:spPr>
          <a:xfrm>
            <a:off x="2560320" y="3749040"/>
            <a:ext cx="1874520" cy="594360"/>
          </a:xfrm>
          <a:prstGeom prst="rect">
            <a:avLst/>
          </a:prstGeom>
          <a:solidFill>
            <a:srgbClr val="152238"/>
          </a:solidFill>
          <a:ln w="12700">
            <a:solidFill>
              <a:srgbClr val="34D399"/>
            </a:solidFill>
            <a:prstDash val="solid"/>
          </a:ln>
        </p:spPr>
      </p:sp>
      <p:sp>
        <p:nvSpPr>
          <p:cNvPr id="27" name="Text 24"/>
          <p:cNvSpPr txBox="1"/>
          <p:nvPr/>
        </p:nvSpPr>
        <p:spPr>
          <a:xfrm>
            <a:off x="2606040" y="374904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Requests resource</a:t>
            </a:r>
            <a:endParaRPr lang="en-US" sz="1200" dirty="0"/>
          </a:p>
        </p:txBody>
      </p:sp>
      <p:sp>
        <p:nvSpPr>
          <p:cNvPr id="28" name="Text 25"/>
          <p:cNvSpPr txBox="1"/>
          <p:nvPr/>
        </p:nvSpPr>
        <p:spPr>
          <a:xfrm>
            <a:off x="4434840" y="3749040"/>
            <a:ext cx="274320" cy="594360"/>
          </a:xfrm>
          <a:prstGeom prst="rect">
            <a:avLst/>
          </a:prstGeom>
          <a:noFill/>
          <a:ln/>
        </p:spPr>
        <p:txBody>
          <a:bodyPr wrap="square" lIns="0" tIns="0" rIns="0" bIns="0" rtlCol="0" anchor="ctr"/>
          <a:lstStyle/>
          <a:p>
            <a:pPr algn="ctr" indent="0" marL="0">
              <a:buNone/>
            </a:pPr>
            <a:r>
              <a:rPr lang="en-US" sz="1600" dirty="0">
                <a:solidFill>
                  <a:srgbClr val="34D399"/>
                </a:solidFill>
                <a:latin typeface="Calibri" pitchFamily="34" charset="0"/>
                <a:ea typeface="Calibri" pitchFamily="34" charset="-122"/>
                <a:cs typeface="Calibri" pitchFamily="34" charset="-120"/>
              </a:rPr>
              <a:t>→</a:t>
            </a:r>
            <a:endParaRPr lang="en-US" sz="1600" dirty="0"/>
          </a:p>
        </p:txBody>
      </p:sp>
      <p:sp>
        <p:nvSpPr>
          <p:cNvPr id="29" name="Shape 26"/>
          <p:cNvSpPr/>
          <p:nvPr/>
        </p:nvSpPr>
        <p:spPr>
          <a:xfrm>
            <a:off x="4709160" y="3749040"/>
            <a:ext cx="1874520" cy="594360"/>
          </a:xfrm>
          <a:prstGeom prst="rect">
            <a:avLst/>
          </a:prstGeom>
          <a:solidFill>
            <a:srgbClr val="152238"/>
          </a:solidFill>
          <a:ln w="12700">
            <a:solidFill>
              <a:srgbClr val="34D399"/>
            </a:solidFill>
            <a:prstDash val="solid"/>
          </a:ln>
        </p:spPr>
      </p:sp>
      <p:sp>
        <p:nvSpPr>
          <p:cNvPr id="30" name="Text 27"/>
          <p:cNvSpPr txBox="1"/>
          <p:nvPr/>
        </p:nvSpPr>
        <p:spPr>
          <a:xfrm>
            <a:off x="4754880" y="374904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Check identity + ownership</a:t>
            </a:r>
            <a:endParaRPr lang="en-US" sz="1200" dirty="0"/>
          </a:p>
        </p:txBody>
      </p:sp>
      <p:sp>
        <p:nvSpPr>
          <p:cNvPr id="31" name="Text 28"/>
          <p:cNvSpPr txBox="1"/>
          <p:nvPr/>
        </p:nvSpPr>
        <p:spPr>
          <a:xfrm>
            <a:off x="6583680" y="3749040"/>
            <a:ext cx="274320" cy="594360"/>
          </a:xfrm>
          <a:prstGeom prst="rect">
            <a:avLst/>
          </a:prstGeom>
          <a:noFill/>
          <a:ln/>
        </p:spPr>
        <p:txBody>
          <a:bodyPr wrap="square" lIns="0" tIns="0" rIns="0" bIns="0" rtlCol="0" anchor="ctr"/>
          <a:lstStyle/>
          <a:p>
            <a:pPr algn="ctr" indent="0" marL="0">
              <a:buNone/>
            </a:pPr>
            <a:r>
              <a:rPr lang="en-US" sz="1600" dirty="0">
                <a:solidFill>
                  <a:srgbClr val="34D399"/>
                </a:solidFill>
                <a:latin typeface="Calibri" pitchFamily="34" charset="0"/>
                <a:ea typeface="Calibri" pitchFamily="34" charset="-122"/>
                <a:cs typeface="Calibri" pitchFamily="34" charset="-120"/>
              </a:rPr>
              <a:t>→</a:t>
            </a:r>
            <a:endParaRPr lang="en-US" sz="1600" dirty="0"/>
          </a:p>
        </p:txBody>
      </p:sp>
      <p:sp>
        <p:nvSpPr>
          <p:cNvPr id="32" name="Shape 29"/>
          <p:cNvSpPr/>
          <p:nvPr/>
        </p:nvSpPr>
        <p:spPr>
          <a:xfrm>
            <a:off x="6858000" y="3749040"/>
            <a:ext cx="1874520" cy="594360"/>
          </a:xfrm>
          <a:prstGeom prst="rect">
            <a:avLst/>
          </a:prstGeom>
          <a:solidFill>
            <a:srgbClr val="152238"/>
          </a:solidFill>
          <a:ln w="12700">
            <a:solidFill>
              <a:srgbClr val="34D399"/>
            </a:solidFill>
            <a:prstDash val="solid"/>
          </a:ln>
        </p:spPr>
      </p:sp>
      <p:sp>
        <p:nvSpPr>
          <p:cNvPr id="33" name="Text 30"/>
          <p:cNvSpPr txBox="1"/>
          <p:nvPr/>
        </p:nvSpPr>
        <p:spPr>
          <a:xfrm>
            <a:off x="6903720" y="3749040"/>
            <a:ext cx="1783080" cy="59436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Allow or 403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Practical 3 — Session &amp; Cookie Security</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3   |   5</a:t>
            </a:r>
            <a:endParaRPr lang="en-US" sz="1000" dirty="0"/>
          </a:p>
        </p:txBody>
      </p:sp>
      <p:sp>
        <p:nvSpPr>
          <p:cNvPr id="6" name="Shape 3"/>
          <p:cNvSpPr/>
          <p:nvPr/>
        </p:nvSpPr>
        <p:spPr>
          <a:xfrm>
            <a:off x="411480" y="960120"/>
            <a:ext cx="4754880" cy="1371600"/>
          </a:xfrm>
          <a:prstGeom prst="rect">
            <a:avLst/>
          </a:prstGeom>
          <a:solidFill>
            <a:srgbClr val="0A1628"/>
          </a:solidFill>
          <a:ln w="12700">
            <a:solidFill>
              <a:srgbClr val="22D3EE"/>
            </a:solidFill>
            <a:prstDash val="solid"/>
          </a:ln>
        </p:spPr>
      </p:sp>
      <p:sp>
        <p:nvSpPr>
          <p:cNvPr id="7" name="Text 4"/>
          <p:cNvSpPr txBox="1"/>
          <p:nvPr/>
        </p:nvSpPr>
        <p:spPr>
          <a:xfrm>
            <a:off x="548640" y="1051560"/>
            <a:ext cx="4480560" cy="1188720"/>
          </a:xfrm>
          <a:prstGeom prst="rect">
            <a:avLst/>
          </a:prstGeom>
          <a:noFill/>
          <a:ln/>
        </p:spPr>
        <p:txBody>
          <a:bodyPr wrap="square" lIns="0" tIns="0" rIns="0" bIns="0" rtlCol="0" anchor="t"/>
          <a:lstStyle/>
          <a:p>
            <a:pPr indent="0" marL="0">
              <a:buNone/>
            </a:pPr>
            <a:r>
              <a:rPr lang="en-US" sz="1100" dirty="0">
                <a:solidFill>
                  <a:srgbClr val="E5E7EB"/>
                </a:solidFill>
                <a:latin typeface="Courier New" pitchFamily="34" charset="0"/>
                <a:ea typeface="Courier New" pitchFamily="34" charset="-122"/>
                <a:cs typeface="Courier New" pitchFamily="34" charset="-120"/>
              </a:rPr>
              <a:t>Set-Cookie: session=…;</a:t>
            </a: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  Secure        ✔ HTTPS only</a:t>
            </a: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  HttpOnly      ✔ no JavaScript access</a:t>
            </a:r>
            <a:endParaRPr lang="en-US" sz="1100" dirty="0"/>
          </a:p>
          <a:p>
            <a:pPr indent="0" marL="0">
              <a:buNone/>
            </a:pPr>
            <a:r>
              <a:rPr lang="en-US" sz="1100" dirty="0">
                <a:solidFill>
                  <a:srgbClr val="E5E7EB"/>
                </a:solidFill>
                <a:latin typeface="Courier New" pitchFamily="34" charset="0"/>
                <a:ea typeface="Courier New" pitchFamily="34" charset="-122"/>
                <a:cs typeface="Courier New" pitchFamily="34" charset="-120"/>
              </a:rPr>
              <a:t>  SameSite=None ⚠ sent on cross-site requests</a:t>
            </a:r>
            <a:endParaRPr lang="en-US" sz="1100" dirty="0"/>
          </a:p>
        </p:txBody>
      </p:sp>
      <p:sp>
        <p:nvSpPr>
          <p:cNvPr id="8" name="Shape 5"/>
          <p:cNvSpPr/>
          <p:nvPr/>
        </p:nvSpPr>
        <p:spPr>
          <a:xfrm>
            <a:off x="5394960" y="960120"/>
            <a:ext cx="3337560" cy="1371600"/>
          </a:xfrm>
          <a:prstGeom prst="rect">
            <a:avLst/>
          </a:prstGeom>
          <a:solidFill>
            <a:srgbClr val="152238"/>
          </a:solidFill>
          <a:ln w="12700">
            <a:solidFill>
              <a:srgbClr val="F97316"/>
            </a:solidFill>
            <a:prstDash val="solid"/>
          </a:ln>
        </p:spPr>
      </p:sp>
      <p:sp>
        <p:nvSpPr>
          <p:cNvPr id="9" name="Text 6"/>
          <p:cNvSpPr txBox="1"/>
          <p:nvPr/>
        </p:nvSpPr>
        <p:spPr>
          <a:xfrm>
            <a:off x="5532120" y="1024128"/>
            <a:ext cx="3108960" cy="27432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Finding</a:t>
            </a:r>
            <a:endParaRPr lang="en-US" sz="1400" dirty="0"/>
          </a:p>
        </p:txBody>
      </p:sp>
      <p:sp>
        <p:nvSpPr>
          <p:cNvPr id="10" name="Text 7"/>
          <p:cNvSpPr txBox="1"/>
          <p:nvPr/>
        </p:nvSpPr>
        <p:spPr>
          <a:xfrm>
            <a:off x="5532120" y="1325880"/>
            <a:ext cx="3108960" cy="1005840"/>
          </a:xfrm>
          <a:prstGeom prst="rect">
            <a:avLst/>
          </a:prstGeom>
          <a:noFill/>
          <a:ln/>
        </p:spPr>
        <p:txBody>
          <a:bodyPr wrap="square" lIns="0" tIns="0" rIns="0" bIns="0" rtlCol="0" anchor="t"/>
          <a:lstStyle/>
          <a:p>
            <a:pPr indent="0" marL="0">
              <a:buNone/>
            </a:pPr>
            <a:r>
              <a:rPr lang="en-US" sz="1200" dirty="0">
                <a:solidFill>
                  <a:srgbClr val="E5E7EB"/>
                </a:solidFill>
                <a:latin typeface="Calibri" pitchFamily="34" charset="0"/>
                <a:ea typeface="Calibri" pitchFamily="34" charset="-122"/>
                <a:cs typeface="Calibri" pitchFamily="34" charset="-120"/>
              </a:rPr>
              <a:t>SameSite=None widens CSRF exposure. Tighten to Lax or Strict unless cross-site use is required.</a:t>
            </a:r>
            <a:endParaRPr lang="en-US" sz="1200" dirty="0"/>
          </a:p>
        </p:txBody>
      </p:sp>
      <p:sp>
        <p:nvSpPr>
          <p:cNvPr id="11" name="Shape 8"/>
          <p:cNvSpPr/>
          <p:nvPr/>
        </p:nvSpPr>
        <p:spPr>
          <a:xfrm>
            <a:off x="411480" y="2651760"/>
            <a:ext cx="1874520" cy="731520"/>
          </a:xfrm>
          <a:prstGeom prst="rect">
            <a:avLst/>
          </a:prstGeom>
          <a:solidFill>
            <a:srgbClr val="152238"/>
          </a:solidFill>
          <a:ln w="12700">
            <a:solidFill>
              <a:srgbClr val="22D3EE"/>
            </a:solidFill>
            <a:prstDash val="solid"/>
          </a:ln>
        </p:spPr>
      </p:sp>
      <p:sp>
        <p:nvSpPr>
          <p:cNvPr id="12" name="Text 9"/>
          <p:cNvSpPr txBox="1"/>
          <p:nvPr/>
        </p:nvSpPr>
        <p:spPr>
          <a:xfrm>
            <a:off x="457200" y="2651760"/>
            <a:ext cx="1783080"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Login → cookie issued</a:t>
            </a:r>
            <a:endParaRPr lang="en-US" sz="1200" dirty="0"/>
          </a:p>
        </p:txBody>
      </p:sp>
      <p:sp>
        <p:nvSpPr>
          <p:cNvPr id="13" name="Text 10"/>
          <p:cNvSpPr txBox="1"/>
          <p:nvPr/>
        </p:nvSpPr>
        <p:spPr>
          <a:xfrm>
            <a:off x="2286000" y="265176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2560320" y="2651760"/>
            <a:ext cx="1874520" cy="731520"/>
          </a:xfrm>
          <a:prstGeom prst="rect">
            <a:avLst/>
          </a:prstGeom>
          <a:solidFill>
            <a:srgbClr val="152238"/>
          </a:solidFill>
          <a:ln w="12700">
            <a:solidFill>
              <a:srgbClr val="22D3EE"/>
            </a:solidFill>
            <a:prstDash val="solid"/>
          </a:ln>
        </p:spPr>
      </p:sp>
      <p:sp>
        <p:nvSpPr>
          <p:cNvPr id="15" name="Text 12"/>
          <p:cNvSpPr txBox="1"/>
          <p:nvPr/>
        </p:nvSpPr>
        <p:spPr>
          <a:xfrm>
            <a:off x="2606040" y="2651760"/>
            <a:ext cx="1783080"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Repeater: cookie gates access</a:t>
            </a:r>
            <a:endParaRPr lang="en-US" sz="1200" dirty="0"/>
          </a:p>
        </p:txBody>
      </p:sp>
      <p:sp>
        <p:nvSpPr>
          <p:cNvPr id="16" name="Text 13"/>
          <p:cNvSpPr txBox="1"/>
          <p:nvPr/>
        </p:nvSpPr>
        <p:spPr>
          <a:xfrm>
            <a:off x="4434840" y="265176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17" name="Shape 14"/>
          <p:cNvSpPr/>
          <p:nvPr/>
        </p:nvSpPr>
        <p:spPr>
          <a:xfrm>
            <a:off x="4709160" y="2651760"/>
            <a:ext cx="1874520" cy="731520"/>
          </a:xfrm>
          <a:prstGeom prst="rect">
            <a:avLst/>
          </a:prstGeom>
          <a:solidFill>
            <a:srgbClr val="152238"/>
          </a:solidFill>
          <a:ln w="12700">
            <a:solidFill>
              <a:srgbClr val="22D3EE"/>
            </a:solidFill>
            <a:prstDash val="solid"/>
          </a:ln>
        </p:spPr>
      </p:sp>
      <p:sp>
        <p:nvSpPr>
          <p:cNvPr id="18" name="Text 15"/>
          <p:cNvSpPr txBox="1"/>
          <p:nvPr/>
        </p:nvSpPr>
        <p:spPr>
          <a:xfrm>
            <a:off x="4754880" y="2651760"/>
            <a:ext cx="1783080"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Logout → 302 to /</a:t>
            </a:r>
            <a:endParaRPr lang="en-US" sz="1200" dirty="0"/>
          </a:p>
        </p:txBody>
      </p:sp>
      <p:sp>
        <p:nvSpPr>
          <p:cNvPr id="19" name="Text 16"/>
          <p:cNvSpPr txBox="1"/>
          <p:nvPr/>
        </p:nvSpPr>
        <p:spPr>
          <a:xfrm>
            <a:off x="6583680" y="2651760"/>
            <a:ext cx="274320" cy="731520"/>
          </a:xfrm>
          <a:prstGeom prst="rect">
            <a:avLst/>
          </a:prstGeom>
          <a:noFill/>
          <a:ln/>
        </p:spPr>
        <p:txBody>
          <a:bodyPr wrap="square" lIns="0" tIns="0" rIns="0" bIns="0" rtlCol="0" anchor="ctr"/>
          <a:lstStyle/>
          <a:p>
            <a:pPr algn="ctr" indent="0" marL="0">
              <a:buNone/>
            </a:pPr>
            <a:r>
              <a:rPr lang="en-US" sz="1600" dirty="0">
                <a:solidFill>
                  <a:srgbClr val="22D3EE"/>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858000" y="2651760"/>
            <a:ext cx="1874520" cy="731520"/>
          </a:xfrm>
          <a:prstGeom prst="rect">
            <a:avLst/>
          </a:prstGeom>
          <a:solidFill>
            <a:srgbClr val="152238"/>
          </a:solidFill>
          <a:ln w="12700">
            <a:solidFill>
              <a:srgbClr val="22D3EE"/>
            </a:solidFill>
            <a:prstDash val="solid"/>
          </a:ln>
        </p:spPr>
      </p:sp>
      <p:sp>
        <p:nvSpPr>
          <p:cNvPr id="21" name="Text 18"/>
          <p:cNvSpPr txBox="1"/>
          <p:nvPr/>
        </p:nvSpPr>
        <p:spPr>
          <a:xfrm>
            <a:off x="6903720" y="2651760"/>
            <a:ext cx="1783080" cy="7315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Server invalidates session</a:t>
            </a:r>
            <a:endParaRPr lang="en-US" sz="1200" dirty="0"/>
          </a:p>
        </p:txBody>
      </p:sp>
      <p:sp>
        <p:nvSpPr>
          <p:cNvPr id="22" name="Shape 19"/>
          <p:cNvSpPr/>
          <p:nvPr/>
        </p:nvSpPr>
        <p:spPr>
          <a:xfrm>
            <a:off x="411480" y="3749040"/>
            <a:ext cx="1970532" cy="502920"/>
          </a:xfrm>
          <a:prstGeom prst="rect">
            <a:avLst/>
          </a:prstGeom>
          <a:solidFill>
            <a:srgbClr val="152238"/>
          </a:solidFill>
          <a:ln w="12700">
            <a:solidFill>
              <a:srgbClr val="34D399"/>
            </a:solidFill>
            <a:prstDash val="solid"/>
          </a:ln>
        </p:spPr>
      </p:sp>
      <p:sp>
        <p:nvSpPr>
          <p:cNvPr id="23" name="Text 20"/>
          <p:cNvSpPr txBox="1"/>
          <p:nvPr/>
        </p:nvSpPr>
        <p:spPr>
          <a:xfrm>
            <a:off x="411480" y="3749040"/>
            <a:ext cx="1970532" cy="5029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Server-side logout</a:t>
            </a:r>
            <a:endParaRPr lang="en-US" sz="1200" dirty="0"/>
          </a:p>
        </p:txBody>
      </p:sp>
      <p:sp>
        <p:nvSpPr>
          <p:cNvPr id="24" name="Shape 21"/>
          <p:cNvSpPr/>
          <p:nvPr/>
        </p:nvSpPr>
        <p:spPr>
          <a:xfrm>
            <a:off x="2491740" y="3749040"/>
            <a:ext cx="1970532" cy="502920"/>
          </a:xfrm>
          <a:prstGeom prst="rect">
            <a:avLst/>
          </a:prstGeom>
          <a:solidFill>
            <a:srgbClr val="152238"/>
          </a:solidFill>
          <a:ln w="12700">
            <a:solidFill>
              <a:srgbClr val="34D399"/>
            </a:solidFill>
            <a:prstDash val="solid"/>
          </a:ln>
        </p:spPr>
      </p:sp>
      <p:sp>
        <p:nvSpPr>
          <p:cNvPr id="25" name="Text 22"/>
          <p:cNvSpPr txBox="1"/>
          <p:nvPr/>
        </p:nvSpPr>
        <p:spPr>
          <a:xfrm>
            <a:off x="2491740" y="3749040"/>
            <a:ext cx="1970532" cy="5029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Expire cookie</a:t>
            </a:r>
            <a:endParaRPr lang="en-US" sz="1200" dirty="0"/>
          </a:p>
        </p:txBody>
      </p:sp>
      <p:sp>
        <p:nvSpPr>
          <p:cNvPr id="26" name="Shape 23"/>
          <p:cNvSpPr/>
          <p:nvPr/>
        </p:nvSpPr>
        <p:spPr>
          <a:xfrm>
            <a:off x="4572000" y="3749040"/>
            <a:ext cx="1970532" cy="502920"/>
          </a:xfrm>
          <a:prstGeom prst="rect">
            <a:avLst/>
          </a:prstGeom>
          <a:solidFill>
            <a:srgbClr val="152238"/>
          </a:solidFill>
          <a:ln w="12700">
            <a:solidFill>
              <a:srgbClr val="34D399"/>
            </a:solidFill>
            <a:prstDash val="solid"/>
          </a:ln>
        </p:spPr>
      </p:sp>
      <p:sp>
        <p:nvSpPr>
          <p:cNvPr id="27" name="Text 24"/>
          <p:cNvSpPr txBox="1"/>
          <p:nvPr/>
        </p:nvSpPr>
        <p:spPr>
          <a:xfrm>
            <a:off x="4572000" y="3749040"/>
            <a:ext cx="1970532" cy="5029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Idle + absolute timeout</a:t>
            </a:r>
            <a:endParaRPr lang="en-US" sz="1200" dirty="0"/>
          </a:p>
        </p:txBody>
      </p:sp>
      <p:sp>
        <p:nvSpPr>
          <p:cNvPr id="28" name="Shape 25"/>
          <p:cNvSpPr/>
          <p:nvPr/>
        </p:nvSpPr>
        <p:spPr>
          <a:xfrm>
            <a:off x="6652260" y="3749040"/>
            <a:ext cx="1970532" cy="502920"/>
          </a:xfrm>
          <a:prstGeom prst="rect">
            <a:avLst/>
          </a:prstGeom>
          <a:solidFill>
            <a:srgbClr val="152238"/>
          </a:solidFill>
          <a:ln w="12700">
            <a:solidFill>
              <a:srgbClr val="34D399"/>
            </a:solidFill>
            <a:prstDash val="solid"/>
          </a:ln>
        </p:spPr>
      </p:sp>
      <p:sp>
        <p:nvSpPr>
          <p:cNvPr id="29" name="Text 26"/>
          <p:cNvSpPr txBox="1"/>
          <p:nvPr/>
        </p:nvSpPr>
        <p:spPr>
          <a:xfrm>
            <a:off x="6652260" y="3749040"/>
            <a:ext cx="1970532" cy="502920"/>
          </a:xfrm>
          <a:prstGeom prst="rect">
            <a:avLst/>
          </a:prstGeom>
          <a:noFill/>
          <a:ln/>
        </p:spPr>
        <p:txBody>
          <a:bodyPr wrap="square" lIns="0" tIns="0" rIns="0" bIns="0" rtlCol="0" anchor="ctr"/>
          <a:lstStyle/>
          <a:p>
            <a:pPr algn="ctr" indent="0" marL="0">
              <a:buNone/>
            </a:pPr>
            <a:r>
              <a:rPr lang="en-US" sz="1200" b="1" dirty="0">
                <a:solidFill>
                  <a:srgbClr val="E5E7EB"/>
                </a:solidFill>
                <a:latin typeface="Calibri" pitchFamily="34" charset="0"/>
                <a:ea typeface="Calibri" pitchFamily="34" charset="-122"/>
                <a:cs typeface="Calibri" pitchFamily="34" charset="-120"/>
              </a:rPr>
              <a:t>New ID after login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Findings Summary</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3   |   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286000"/>
                <a:gridCol w="1645920"/>
                <a:gridCol w="4389120"/>
              </a:tblGrid>
              <a:tr h="685800">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Assessment</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c>
                  <a:txBody>
                    <a:bodyPr/>
                    <a:lstStyle/>
                    <a:p>
                      <a:pPr indent="0" marL="0">
                        <a:buNone/>
                      </a:pPr>
                      <a:r>
                        <a:rPr lang="en-US" sz="1300" b="1" dirty="0">
                          <a:solidFill>
                            <a:srgbClr val="0B1220"/>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22D3EE"/>
                    </a:solidFill>
                  </a:tcPr>
                </a:tc>
              </a:tr>
              <a:tr h="6858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Username enumeration</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Demonstrated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Response differences revealed a valid account; lab account accessed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r h="6858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IDOR</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Demonstrated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Changing the ID returned another user’s account and API key</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r h="685800">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Session &amp; cookies</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34D399"/>
                          </a:solidFill>
                          <a:latin typeface="Calibri" pitchFamily="34" charset="0"/>
                          <a:ea typeface="Calibri" pitchFamily="34" charset="-122"/>
                          <a:cs typeface="Calibri" pitchFamily="34" charset="-120"/>
                        </a:rPr>
                        <a:t>Demonstrated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c>
                  <a:txBody>
                    <a:bodyPr/>
                    <a:lstStyle/>
                    <a:p>
                      <a:pPr indent="0" marL="0">
                        <a:buNone/>
                      </a:pPr>
                      <a:r>
                        <a:rPr lang="en-US" sz="1300" dirty="0">
                          <a:solidFill>
                            <a:srgbClr val="E5E7EB"/>
                          </a:solidFill>
                          <a:latin typeface="Calibri" pitchFamily="34" charset="0"/>
                          <a:ea typeface="Calibri" pitchFamily="34" charset="-122"/>
                          <a:cs typeface="Calibri" pitchFamily="34" charset="-120"/>
                        </a:rPr>
                        <a:t>Cookie flags and logout flow assessed; SameSite=None identified</a:t>
                      </a:r>
                      <a:endParaRPr lang="en-US" sz="1300" dirty="0">
                        <a:latin typeface="Calibri" charset="0"/>
                        <a:ea typeface="Calibri" charset="0"/>
                        <a:cs typeface="Calibri" charset="0"/>
                      </a:endParaRPr>
                    </a:p>
                  </a:txBody>
                  <a:tcPr marL="91440" marR="91440" marT="45720" marB="45720" anchor="ctr">
                    <a:lnL w="12700" cap="flat" cmpd="sng" algn="ctr">
                      <a:solidFill>
                        <a:srgbClr val="27395A"/>
                      </a:solidFill>
                      <a:prstDash val="solid"/>
                      <a:round/>
                      <a:headEnd type="none" w="med" len="med"/>
                      <a:tailEnd type="none" w="med" len="med"/>
                    </a:lnL>
                    <a:lnR w="12700" cap="flat" cmpd="sng" algn="ctr">
                      <a:solidFill>
                        <a:srgbClr val="27395A"/>
                      </a:solidFill>
                      <a:prstDash val="solid"/>
                      <a:round/>
                      <a:headEnd type="none" w="med" len="med"/>
                      <a:tailEnd type="none" w="med" len="med"/>
                    </a:lnR>
                    <a:lnT w="12700" cap="flat" cmpd="sng" algn="ctr">
                      <a:solidFill>
                        <a:srgbClr val="27395A"/>
                      </a:solidFill>
                      <a:prstDash val="solid"/>
                      <a:round/>
                      <a:headEnd type="none" w="med" len="med"/>
                      <a:tailEnd type="none" w="med" len="med"/>
                    </a:lnT>
                    <a:lnB w="12700" cap="flat" cmpd="sng" algn="ctr">
                      <a:solidFill>
                        <a:srgbClr val="27395A"/>
                      </a:solidFill>
                      <a:prstDash val="solid"/>
                      <a:round/>
                      <a:headEnd type="none" w="med" len="med"/>
                      <a:tailEnd type="none" w="med" len="med"/>
                    </a:lnB>
                    <a:solidFill>
                      <a:srgbClr val="152238"/>
                    </a:solidFill>
                  </a:tcPr>
                </a:tc>
              </a:tr>
            </a:tbl>
          </a:graphicData>
        </a:graphic>
      </p:graphicFrame>
      <p:sp>
        <p:nvSpPr>
          <p:cNvPr id="7" name="Text 3"/>
          <p:cNvSpPr txBox="1"/>
          <p:nvPr/>
        </p:nvSpPr>
        <p:spPr>
          <a:xfrm>
            <a:off x="411480" y="3931920"/>
            <a:ext cx="8321040" cy="365760"/>
          </a:xfrm>
          <a:prstGeom prst="rect">
            <a:avLst/>
          </a:prstGeom>
          <a:noFill/>
          <a:ln/>
        </p:spPr>
        <p:txBody>
          <a:bodyPr wrap="square" lIns="0" tIns="0" rIns="0" bIns="0" rtlCol="0" anchor="t"/>
          <a:lstStyle/>
          <a:p>
            <a:pPr indent="0" marL="0">
              <a:buNone/>
            </a:pPr>
            <a:r>
              <a:rPr lang="en-US" sz="1500" b="1" dirty="0">
                <a:solidFill>
                  <a:srgbClr val="22D3EE"/>
                </a:solidFill>
                <a:latin typeface="Calibri" pitchFamily="34" charset="0"/>
                <a:ea typeface="Calibri" pitchFamily="34" charset="-122"/>
                <a:cs typeface="Calibri" pitchFamily="34" charset="-120"/>
              </a:rPr>
              <a:t>Common thread: enforce security on the server, consistently, on every request.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600" b="1" dirty="0">
                <a:solidFill>
                  <a:srgbClr val="E5E7EB"/>
                </a:solidFill>
                <a:latin typeface="Calibri" pitchFamily="34" charset="0"/>
                <a:ea typeface="Calibri" pitchFamily="34" charset="-122"/>
                <a:cs typeface="Calibri" pitchFamily="34" charset="-120"/>
              </a:rPr>
              <a:t>Recommendations &amp; References</a:t>
            </a:r>
            <a:endParaRPr lang="en-US" sz="2600" dirty="0"/>
          </a:p>
        </p:txBody>
      </p:sp>
      <p:sp>
        <p:nvSpPr>
          <p:cNvPr id="4" name="Text 2"/>
          <p:cNvSpPr txBox="1"/>
          <p:nvPr/>
        </p:nvSpPr>
        <p:spPr>
          <a:xfrm>
            <a:off x="5943600" y="4800600"/>
            <a:ext cx="2926080" cy="274320"/>
          </a:xfrm>
          <a:prstGeom prst="rect">
            <a:avLst/>
          </a:prstGeom>
          <a:noFill/>
          <a:ln/>
        </p:spPr>
        <p:txBody>
          <a:bodyPr wrap="square" lIns="0" tIns="0" rIns="0" bIns="0" rtlCol="0" anchor="ctr"/>
          <a:lstStyle/>
          <a:p>
            <a:pPr algn="r" indent="0" marL="0">
              <a:buNone/>
            </a:pPr>
            <a:r>
              <a:rPr lang="en-US" sz="1000" dirty="0">
                <a:solidFill>
                  <a:srgbClr val="94A3B8"/>
                </a:solidFill>
              </a:rPr>
              <a:t>Member 3   |   7</a:t>
            </a:r>
            <a:endParaRPr lang="en-US" sz="1000" dirty="0"/>
          </a:p>
        </p:txBody>
      </p:sp>
      <p:sp>
        <p:nvSpPr>
          <p:cNvPr id="6" name="Shape 3"/>
          <p:cNvSpPr/>
          <p:nvPr/>
        </p:nvSpPr>
        <p:spPr>
          <a:xfrm>
            <a:off x="411480" y="914400"/>
            <a:ext cx="2651760" cy="1280160"/>
          </a:xfrm>
          <a:prstGeom prst="rect">
            <a:avLst/>
          </a:prstGeom>
          <a:solidFill>
            <a:srgbClr val="152238"/>
          </a:solidFill>
          <a:ln w="12700">
            <a:solidFill>
              <a:srgbClr val="22D3EE"/>
            </a:solidFill>
            <a:prstDash val="solid"/>
          </a:ln>
        </p:spPr>
      </p:sp>
      <p:sp>
        <p:nvSpPr>
          <p:cNvPr id="7" name="Text 4"/>
          <p:cNvSpPr txBox="1"/>
          <p:nvPr/>
        </p:nvSpPr>
        <p:spPr>
          <a:xfrm>
            <a:off x="548640" y="1005840"/>
            <a:ext cx="2377440" cy="274320"/>
          </a:xfrm>
          <a:prstGeom prst="rect">
            <a:avLst/>
          </a:prstGeom>
          <a:noFill/>
          <a:ln/>
        </p:spPr>
        <p:txBody>
          <a:bodyPr wrap="square" lIns="0" tIns="0" rIns="0" bIns="0" rtlCol="0" anchor="t"/>
          <a:lstStyle/>
          <a:p>
            <a:pPr indent="0" marL="0">
              <a:buNone/>
            </a:pPr>
            <a:r>
              <a:rPr lang="en-US" sz="1600" b="1" dirty="0">
                <a:solidFill>
                  <a:srgbClr val="22D3EE"/>
                </a:solidFill>
                <a:latin typeface="Calibri" pitchFamily="34" charset="0"/>
                <a:ea typeface="Calibri" pitchFamily="34" charset="-122"/>
                <a:cs typeface="Calibri" pitchFamily="34" charset="-120"/>
              </a:rPr>
              <a:t>Authentication</a:t>
            </a:r>
            <a:endParaRPr lang="en-US" sz="1600" dirty="0"/>
          </a:p>
        </p:txBody>
      </p:sp>
      <p:sp>
        <p:nvSpPr>
          <p:cNvPr id="8" name="Text 5"/>
          <p:cNvSpPr txBox="1"/>
          <p:nvPr/>
        </p:nvSpPr>
        <p:spPr>
          <a:xfrm>
            <a:off x="548640" y="1417320"/>
            <a:ext cx="2377440" cy="7315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Consistent errors, rate limiting, MFA</a:t>
            </a:r>
            <a:endParaRPr lang="en-US" sz="1300" dirty="0"/>
          </a:p>
        </p:txBody>
      </p:sp>
      <p:sp>
        <p:nvSpPr>
          <p:cNvPr id="9" name="Shape 6"/>
          <p:cNvSpPr/>
          <p:nvPr/>
        </p:nvSpPr>
        <p:spPr>
          <a:xfrm>
            <a:off x="3246120" y="914400"/>
            <a:ext cx="2651760" cy="1280160"/>
          </a:xfrm>
          <a:prstGeom prst="rect">
            <a:avLst/>
          </a:prstGeom>
          <a:solidFill>
            <a:srgbClr val="152238"/>
          </a:solidFill>
          <a:ln w="12700">
            <a:solidFill>
              <a:srgbClr val="22D3EE"/>
            </a:solidFill>
            <a:prstDash val="solid"/>
          </a:ln>
        </p:spPr>
      </p:sp>
      <p:sp>
        <p:nvSpPr>
          <p:cNvPr id="10" name="Text 7"/>
          <p:cNvSpPr txBox="1"/>
          <p:nvPr/>
        </p:nvSpPr>
        <p:spPr>
          <a:xfrm>
            <a:off x="3383280" y="1005840"/>
            <a:ext cx="2377440" cy="274320"/>
          </a:xfrm>
          <a:prstGeom prst="rect">
            <a:avLst/>
          </a:prstGeom>
          <a:noFill/>
          <a:ln/>
        </p:spPr>
        <p:txBody>
          <a:bodyPr wrap="square" lIns="0" tIns="0" rIns="0" bIns="0" rtlCol="0" anchor="t"/>
          <a:lstStyle/>
          <a:p>
            <a:pPr indent="0" marL="0">
              <a:buNone/>
            </a:pPr>
            <a:r>
              <a:rPr lang="en-US" sz="1600" b="1" dirty="0">
                <a:solidFill>
                  <a:srgbClr val="22D3EE"/>
                </a:solidFill>
                <a:latin typeface="Calibri" pitchFamily="34" charset="0"/>
                <a:ea typeface="Calibri" pitchFamily="34" charset="-122"/>
                <a:cs typeface="Calibri" pitchFamily="34" charset="-120"/>
              </a:rPr>
              <a:t>Authorization</a:t>
            </a:r>
            <a:endParaRPr lang="en-US" sz="1600" dirty="0"/>
          </a:p>
        </p:txBody>
      </p:sp>
      <p:sp>
        <p:nvSpPr>
          <p:cNvPr id="11" name="Text 8"/>
          <p:cNvSpPr txBox="1"/>
          <p:nvPr/>
        </p:nvSpPr>
        <p:spPr>
          <a:xfrm>
            <a:off x="3383280" y="1417320"/>
            <a:ext cx="2377440" cy="7315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Ownership checks, least privilege, deny by default</a:t>
            </a:r>
            <a:endParaRPr lang="en-US" sz="1300" dirty="0"/>
          </a:p>
        </p:txBody>
      </p:sp>
      <p:sp>
        <p:nvSpPr>
          <p:cNvPr id="12" name="Shape 9"/>
          <p:cNvSpPr/>
          <p:nvPr/>
        </p:nvSpPr>
        <p:spPr>
          <a:xfrm>
            <a:off x="6080760" y="914400"/>
            <a:ext cx="2651760" cy="1280160"/>
          </a:xfrm>
          <a:prstGeom prst="rect">
            <a:avLst/>
          </a:prstGeom>
          <a:solidFill>
            <a:srgbClr val="152238"/>
          </a:solidFill>
          <a:ln w="12700">
            <a:solidFill>
              <a:srgbClr val="22D3EE"/>
            </a:solidFill>
            <a:prstDash val="solid"/>
          </a:ln>
        </p:spPr>
      </p:sp>
      <p:sp>
        <p:nvSpPr>
          <p:cNvPr id="13" name="Text 10"/>
          <p:cNvSpPr txBox="1"/>
          <p:nvPr/>
        </p:nvSpPr>
        <p:spPr>
          <a:xfrm>
            <a:off x="6217920" y="1005840"/>
            <a:ext cx="2377440" cy="274320"/>
          </a:xfrm>
          <a:prstGeom prst="rect">
            <a:avLst/>
          </a:prstGeom>
          <a:noFill/>
          <a:ln/>
        </p:spPr>
        <p:txBody>
          <a:bodyPr wrap="square" lIns="0" tIns="0" rIns="0" bIns="0" rtlCol="0" anchor="t"/>
          <a:lstStyle/>
          <a:p>
            <a:pPr indent="0" marL="0">
              <a:buNone/>
            </a:pPr>
            <a:r>
              <a:rPr lang="en-US" sz="1600" b="1" dirty="0">
                <a:solidFill>
                  <a:srgbClr val="22D3EE"/>
                </a:solidFill>
                <a:latin typeface="Calibri" pitchFamily="34" charset="0"/>
                <a:ea typeface="Calibri" pitchFamily="34" charset="-122"/>
                <a:cs typeface="Calibri" pitchFamily="34" charset="-120"/>
              </a:rPr>
              <a:t>Sessions</a:t>
            </a:r>
            <a:endParaRPr lang="en-US" sz="1600" dirty="0"/>
          </a:p>
        </p:txBody>
      </p:sp>
      <p:sp>
        <p:nvSpPr>
          <p:cNvPr id="14" name="Text 11"/>
          <p:cNvSpPr txBox="1"/>
          <p:nvPr/>
        </p:nvSpPr>
        <p:spPr>
          <a:xfrm>
            <a:off x="6217920" y="1417320"/>
            <a:ext cx="2377440" cy="731520"/>
          </a:xfrm>
          <a:prstGeom prst="rect">
            <a:avLst/>
          </a:prstGeom>
          <a:noFill/>
          <a:ln/>
        </p:spPr>
        <p:txBody>
          <a:bodyPr wrap="square" lIns="0" tIns="0" rIns="0" bIns="0" rtlCol="0" anchor="t"/>
          <a:lstStyle/>
          <a:p>
            <a:pPr indent="0" marL="0">
              <a:buNone/>
            </a:pPr>
            <a:r>
              <a:rPr lang="en-US" sz="1300" dirty="0">
                <a:solidFill>
                  <a:srgbClr val="E5E7EB"/>
                </a:solidFill>
                <a:latin typeface="Calibri" pitchFamily="34" charset="0"/>
                <a:ea typeface="Calibri" pitchFamily="34" charset="-122"/>
                <a:cs typeface="Calibri" pitchFamily="34" charset="-120"/>
              </a:rPr>
              <a:t>Secure cookies, server-side logout, timeouts</a:t>
            </a:r>
            <a:endParaRPr lang="en-US" sz="1300" dirty="0"/>
          </a:p>
        </p:txBody>
      </p:sp>
      <p:sp>
        <p:nvSpPr>
          <p:cNvPr id="15" name="Text 12"/>
          <p:cNvSpPr txBox="1"/>
          <p:nvPr/>
        </p:nvSpPr>
        <p:spPr>
          <a:xfrm>
            <a:off x="411480" y="2468880"/>
            <a:ext cx="8229600" cy="274320"/>
          </a:xfrm>
          <a:prstGeom prst="rect">
            <a:avLst/>
          </a:prstGeom>
          <a:noFill/>
          <a:ln/>
        </p:spPr>
        <p:txBody>
          <a:bodyPr wrap="square" lIns="0" tIns="0" rIns="0" bIns="0" rtlCol="0" anchor="t"/>
          <a:lstStyle/>
          <a:p>
            <a:pPr indent="0" marL="0">
              <a:buNone/>
            </a:pPr>
            <a:r>
              <a:rPr lang="en-US" sz="1400" b="1" dirty="0">
                <a:solidFill>
                  <a:srgbClr val="22D3EE"/>
                </a:solidFill>
                <a:latin typeface="Calibri" pitchFamily="34" charset="0"/>
                <a:ea typeface="Calibri" pitchFamily="34" charset="-122"/>
                <a:cs typeface="Calibri" pitchFamily="34" charset="-120"/>
              </a:rPr>
              <a:t>References</a:t>
            </a:r>
            <a:endParaRPr lang="en-US" sz="1400" dirty="0"/>
          </a:p>
        </p:txBody>
      </p:sp>
      <p:sp>
        <p:nvSpPr>
          <p:cNvPr id="16" name="Text 13"/>
          <p:cNvSpPr txBox="1"/>
          <p:nvPr/>
        </p:nvSpPr>
        <p:spPr>
          <a:xfrm>
            <a:off x="411480" y="2788920"/>
            <a:ext cx="8321040" cy="1645920"/>
          </a:xfrm>
          <a:prstGeom prst="rect">
            <a:avLst/>
          </a:prstGeom>
          <a:noFill/>
          <a:ln/>
        </p:spPr>
        <p:txBody>
          <a:bodyPr wrap="square" lIns="0" tIns="0" rIns="0" bIns="0" rtlCol="0" anchor="t"/>
          <a:lstStyle/>
          <a:p>
            <a:pPr indent="0" marL="0">
              <a:spcAft>
                <a:spcPts val="300"/>
              </a:spcAft>
              <a:buNone/>
            </a:pPr>
            <a:r>
              <a:rPr lang="en-US" sz="1200" dirty="0">
                <a:solidFill>
                  <a:srgbClr val="94A3B8"/>
                </a:solidFill>
                <a:latin typeface="Calibri" pitchFamily="34" charset="0"/>
                <a:ea typeface="Calibri" pitchFamily="34" charset="-122"/>
                <a:cs typeface="Calibri" pitchFamily="34" charset="-120"/>
              </a:rPr>
              <a:t>PortSwigger — Username enumeration via different responses</a:t>
            </a:r>
            <a:endParaRPr lang="en-US" sz="1200" dirty="0"/>
          </a:p>
          <a:p>
            <a:pPr indent="0" marL="0">
              <a:spcAft>
                <a:spcPts val="300"/>
              </a:spcAft>
              <a:buNone/>
            </a:pPr>
            <a:r>
              <a:rPr lang="en-US" sz="1200" dirty="0">
                <a:solidFill>
                  <a:srgbClr val="94A3B8"/>
                </a:solidFill>
                <a:latin typeface="Calibri" pitchFamily="34" charset="0"/>
                <a:ea typeface="Calibri" pitchFamily="34" charset="-122"/>
                <a:cs typeface="Calibri" pitchFamily="34" charset="-120"/>
              </a:rPr>
              <a:t>PortSwigger — User ID controlled by request parameter</a:t>
            </a:r>
            <a:endParaRPr lang="en-US" sz="1200" dirty="0"/>
          </a:p>
          <a:p>
            <a:pPr indent="0" marL="0">
              <a:spcAft>
                <a:spcPts val="300"/>
              </a:spcAft>
              <a:buNone/>
            </a:pPr>
            <a:r>
              <a:rPr lang="en-US" sz="1200" dirty="0">
                <a:solidFill>
                  <a:srgbClr val="94A3B8"/>
                </a:solidFill>
                <a:latin typeface="Calibri" pitchFamily="34" charset="0"/>
                <a:ea typeface="Calibri" pitchFamily="34" charset="-122"/>
                <a:cs typeface="Calibri" pitchFamily="34" charset="-120"/>
              </a:rPr>
              <a:t>PortSwigger — Authentication &amp; Access control vulnerabilities (portswigger.net/web-security)</a:t>
            </a:r>
            <a:endParaRPr lang="en-US" sz="1200" dirty="0"/>
          </a:p>
          <a:p>
            <a:pPr indent="0" marL="0">
              <a:spcAft>
                <a:spcPts val="300"/>
              </a:spcAft>
              <a:buNone/>
            </a:pPr>
            <a:r>
              <a:rPr lang="en-US" sz="1200" dirty="0">
                <a:solidFill>
                  <a:srgbClr val="94A3B8"/>
                </a:solidFill>
                <a:latin typeface="Calibri" pitchFamily="34" charset="0"/>
                <a:ea typeface="Calibri" pitchFamily="34" charset="-122"/>
                <a:cs typeface="Calibri" pitchFamily="34" charset="-120"/>
              </a:rPr>
              <a:t>OWASP WSTG — Testing for Logout Functionality</a:t>
            </a:r>
            <a:endParaRPr lang="en-US" sz="1200" dirty="0"/>
          </a:p>
          <a:p>
            <a:pPr indent="0" marL="0">
              <a:spcAft>
                <a:spcPts val="300"/>
              </a:spcAft>
              <a:buNone/>
            </a:pPr>
            <a:r>
              <a:rPr lang="en-US" sz="1200" dirty="0">
                <a:solidFill>
                  <a:srgbClr val="94A3B8"/>
                </a:solidFill>
                <a:latin typeface="Calibri" pitchFamily="34" charset="0"/>
                <a:ea typeface="Calibri" pitchFamily="34" charset="-122"/>
                <a:cs typeface="Calibri" pitchFamily="34" charset="-120"/>
              </a:rPr>
              <a:t>OWASP Top 10 — owasp.org/Top10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Authentication and Access Control Security Assessment</dc:title>
  <dc:subject>PptxGenJS Presentation</dc:subject>
  <dc:creator>PptxGenJS</dc:creator>
  <cp:lastModifiedBy>PptxGenJS</cp:lastModifiedBy>
  <cp:revision>1</cp:revision>
  <dcterms:created xsi:type="dcterms:W3CDTF">2026-10-20T11:19:23Z</dcterms:created>
  <dcterms:modified xsi:type="dcterms:W3CDTF">2026-10-20T11:19:23Z</dcterms:modified>
</cp:coreProperties>
</file>